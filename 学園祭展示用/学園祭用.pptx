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7"/>
  </p:notesMasterIdLst>
  <p:sldIdLst>
    <p:sldId id="258" r:id="rId2"/>
    <p:sldId id="257" r:id="rId3"/>
    <p:sldId id="262" r:id="rId4"/>
    <p:sldId id="259" r:id="rId5"/>
    <p:sldId id="260" r:id="rId6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3372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2B6-2CEF-4DF5-9805-05ED4B6391DE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96453-08FF-4E5E-9E21-4787EA087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8519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96453-08FF-4E5E-9E21-4787EA08740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48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96453-08FF-4E5E-9E21-4787EA08740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375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96453-08FF-4E5E-9E21-4787EA087400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08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05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57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753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09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25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17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60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9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7258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19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7691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1179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1720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2671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8912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537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9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45D9F16-06F8-420F-A05C-ED0D8A0E7DE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32A7948-9486-4E43-A053-23190505CB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088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4.wdp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microsoft.com/office/2007/relationships/hdphoto" Target="../media/hdphoto4.wdp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microsoft.com/office/2007/relationships/hdphoto" Target="../media/hdphoto10.wdp"/><Relationship Id="rId5" Type="http://schemas.microsoft.com/office/2007/relationships/hdphoto" Target="../media/hdphoto7.wdp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microsoft.com/office/2007/relationships/hdphoto" Target="../media/hdphoto9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73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7D87CAA3-4496-4FCE-90CE-89F4EB4EA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6727266-6BC4-4FD2-B6A3-2B85A16F710B}"/>
              </a:ext>
            </a:extLst>
          </p:cNvPr>
          <p:cNvSpPr/>
          <p:nvPr/>
        </p:nvSpPr>
        <p:spPr>
          <a:xfrm>
            <a:off x="131614" y="125506"/>
            <a:ext cx="11923020" cy="6555259"/>
          </a:xfrm>
          <a:prstGeom prst="round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704D631-D8C0-4844-9D7F-628081A9B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9278">
            <a:off x="10810877" y="5936631"/>
            <a:ext cx="549852" cy="544986"/>
          </a:xfrm>
          <a:prstGeom prst="rect">
            <a:avLst/>
          </a:prstGeom>
          <a:scene3d>
            <a:camera prst="orthographicFront">
              <a:rot lat="2100000" lon="19499988" rev="0"/>
            </a:camera>
            <a:lightRig rig="threePt" dir="t"/>
          </a:scene3d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024740B-0451-46FF-8E24-9DAF52C47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0866">
            <a:off x="1640979" y="5495181"/>
            <a:ext cx="962772" cy="76382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B115569-3CD7-414B-91E6-0975AEDDB27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alphaModFix amt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803" y="3602182"/>
            <a:ext cx="762309" cy="24938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8643B59A-A944-486D-8153-C1A9F34A6F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72201" y="5638012"/>
            <a:ext cx="1147199" cy="100040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6E38B18-3A7D-446D-B214-4E3BEA57D78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55651">
            <a:off x="8827119" y="3767261"/>
            <a:ext cx="732899" cy="707771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6AFB36F-850D-451D-A3D8-86418BF55EB2}"/>
              </a:ext>
            </a:extLst>
          </p:cNvPr>
          <p:cNvSpPr/>
          <p:nvPr/>
        </p:nvSpPr>
        <p:spPr>
          <a:xfrm>
            <a:off x="3657600" y="277906"/>
            <a:ext cx="4518212" cy="6263249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3000"/>
            </a:schemeClr>
          </a:solidFill>
          <a:ln w="762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endParaRPr lang="en-US" altLang="ja-JP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❶ </a:t>
            </a:r>
            <a:r>
              <a:rPr lang="ja-JP" altLang="en-US" sz="20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画面タップで釣りを開始！</a:t>
            </a:r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5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</a:t>
            </a:r>
            <a:r>
              <a:rPr lang="en-US" altLang="ja-JP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[</a:t>
            </a:r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じっと待て</a:t>
            </a:r>
            <a:r>
              <a:rPr lang="en-US" altLang="ja-JP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…]</a:t>
            </a:r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の表示中は</a:t>
            </a:r>
            <a:endParaRPr lang="en-US" altLang="ja-JP" sz="16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画面を押さずに待機します。</a:t>
            </a:r>
            <a:endParaRPr lang="en-US" altLang="ja-JP" sz="16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ja-JP" altLang="en-US" sz="2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❷ </a:t>
            </a:r>
            <a:r>
              <a:rPr lang="en-US" altLang="ja-JP" sz="20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[</a:t>
            </a:r>
            <a:r>
              <a:rPr lang="ja-JP" altLang="en-US" sz="20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一閃！</a:t>
            </a:r>
            <a:r>
              <a:rPr lang="en-US" altLang="ja-JP" sz="20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]</a:t>
            </a:r>
            <a:r>
              <a:rPr lang="ja-JP" altLang="en-US" sz="20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が出たら即タップ！</a:t>
            </a:r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5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</a:t>
            </a:r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赤文字で</a:t>
            </a:r>
            <a:r>
              <a:rPr lang="en-US" altLang="ja-JP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[</a:t>
            </a:r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一閃！</a:t>
            </a:r>
            <a:r>
              <a:rPr lang="en-US" altLang="ja-JP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]</a:t>
            </a:r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が出た瞬間に</a:t>
            </a:r>
            <a:endParaRPr lang="en-US" altLang="ja-JP" sz="16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素早く画面をタップ！</a:t>
            </a:r>
            <a:endParaRPr lang="en-US" altLang="ja-JP" sz="16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ja-JP" altLang="en-US" sz="2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❸ </a:t>
            </a:r>
            <a:r>
              <a:rPr lang="en-US" altLang="ja-JP" sz="20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</a:t>
            </a:r>
            <a:r>
              <a:rPr lang="ja-JP" altLang="en-US" sz="20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分間でハイスコアを目指せ！</a:t>
            </a:r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5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</a:t>
            </a:r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大物ほど高いポイントが</a:t>
            </a:r>
            <a:endParaRPr lang="en-US" altLang="ja-JP" sz="16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手に入ります。</a:t>
            </a:r>
            <a:endParaRPr lang="en-US" altLang="ja-JP" sz="16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失敗してもペナルティなしで</a:t>
            </a:r>
            <a:endParaRPr lang="en-US" altLang="ja-JP" sz="16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sz="16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即再挑戦可能！</a:t>
            </a:r>
          </a:p>
          <a:p>
            <a:endParaRPr kumimoji="1" lang="ja-JP" alt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ACE35EA-9C56-4F1D-8F29-44D74756E24F}"/>
              </a:ext>
            </a:extLst>
          </p:cNvPr>
          <p:cNvSpPr/>
          <p:nvPr/>
        </p:nvSpPr>
        <p:spPr>
          <a:xfrm>
            <a:off x="4093129" y="573759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～遊び方～</a:t>
            </a:r>
            <a:endParaRPr lang="ja-JP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B4E0277-EC0D-4EC9-AE10-D319E74311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9985" flipH="1">
            <a:off x="8940064" y="2605088"/>
            <a:ext cx="697826" cy="55334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5FA15CB-B9F3-4CF4-A391-8725691CECE4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50000"/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93322" flipH="1">
            <a:off x="2040765" y="3459398"/>
            <a:ext cx="323679" cy="19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3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00C4880E-322D-4752-9C41-67B85723F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449F73B-A738-44F8-9A5A-711BBC154044}"/>
              </a:ext>
            </a:extLst>
          </p:cNvPr>
          <p:cNvSpPr/>
          <p:nvPr/>
        </p:nvSpPr>
        <p:spPr>
          <a:xfrm>
            <a:off x="131614" y="125506"/>
            <a:ext cx="11923020" cy="6555259"/>
          </a:xfrm>
          <a:prstGeom prst="roundRect">
            <a:avLst/>
          </a:prstGeom>
          <a:solidFill>
            <a:schemeClr val="tx1">
              <a:alpha val="34000"/>
            </a:schemeClr>
          </a:solidFill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76B707E8-D700-44AC-BE71-06A99AA1B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606798"/>
              </p:ext>
            </p:extLst>
          </p:nvPr>
        </p:nvGraphicFramePr>
        <p:xfrm>
          <a:off x="755936" y="1325594"/>
          <a:ext cx="8129624" cy="191187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524318">
                  <a:extLst>
                    <a:ext uri="{9D8B030D-6E8A-4147-A177-3AD203B41FA5}">
                      <a16:colId xmlns:a16="http://schemas.microsoft.com/office/drawing/2014/main" val="2980328609"/>
                    </a:ext>
                  </a:extLst>
                </a:gridCol>
                <a:gridCol w="3053751">
                  <a:extLst>
                    <a:ext uri="{9D8B030D-6E8A-4147-A177-3AD203B41FA5}">
                      <a16:colId xmlns:a16="http://schemas.microsoft.com/office/drawing/2014/main" val="2941403029"/>
                    </a:ext>
                  </a:extLst>
                </a:gridCol>
                <a:gridCol w="3551555">
                  <a:extLst>
                    <a:ext uri="{9D8B030D-6E8A-4147-A177-3AD203B41FA5}">
                      <a16:colId xmlns:a16="http://schemas.microsoft.com/office/drawing/2014/main" val="1012242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会場展示版（</a:t>
                      </a:r>
                      <a:r>
                        <a:rPr lang="en-US" sz="2000" dirty="0">
                          <a:latin typeface="+mn-ea"/>
                          <a:ea typeface="+mn-ea"/>
                        </a:rPr>
                        <a:t>PC）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000" dirty="0">
                          <a:latin typeface="+mn-ea"/>
                          <a:ea typeface="+mn-ea"/>
                        </a:rPr>
                        <a:t>Web</a:t>
                      </a:r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完全版（スマホ対応）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11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1">
                          <a:latin typeface="+mn-ea"/>
                          <a:ea typeface="+mn-ea"/>
                        </a:rPr>
                        <a:t>プレイ時間</a:t>
                      </a:r>
                      <a:endParaRPr lang="ja-JP" altLang="en-US" sz="2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2000">
                          <a:latin typeface="+mn-ea"/>
                          <a:ea typeface="+mn-ea"/>
                        </a:rPr>
                        <a:t>制限時間　約</a:t>
                      </a:r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３分</a:t>
                      </a:r>
                      <a:endParaRPr lang="en-US" altLang="zh-TW" sz="2000" dirty="0">
                        <a:latin typeface="+mn-ea"/>
                        <a:ea typeface="+mn-ea"/>
                      </a:endParaRPr>
                    </a:p>
                    <a:p>
                      <a:r>
                        <a:rPr lang="zh-TW" altLang="en-US" sz="2000" dirty="0">
                          <a:latin typeface="+mn-ea"/>
                          <a:ea typeface="+mn-ea"/>
                        </a:rPr>
                        <a:t>（</a:t>
                      </a:r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タイムアタック</a:t>
                      </a:r>
                      <a:r>
                        <a:rPr lang="zh-TW" altLang="en-US" sz="2000" dirty="0"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無制限（ハマりすぎ注意）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998400"/>
                  </a:ext>
                </a:extLst>
              </a:tr>
              <a:tr h="41835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1" dirty="0">
                          <a:latin typeface="+mn-ea"/>
                          <a:ea typeface="+mn-ea"/>
                        </a:rPr>
                        <a:t>操作方法</a:t>
                      </a:r>
                      <a:endParaRPr lang="ja-JP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マウスでクリック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画面タップ操作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5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000" b="1" dirty="0">
                          <a:latin typeface="+mn-ea"/>
                          <a:ea typeface="+mn-ea"/>
                        </a:rPr>
                        <a:t>画面</a:t>
                      </a:r>
                      <a:endParaRPr lang="ja-JP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スマホの縦画面（</a:t>
                      </a:r>
                      <a:r>
                        <a:rPr lang="en-US" altLang="ja-JP" sz="2000" dirty="0">
                          <a:latin typeface="+mn-ea"/>
                          <a:ea typeface="+mn-ea"/>
                        </a:rPr>
                        <a:t>PC</a:t>
                      </a:r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2000" dirty="0">
                          <a:latin typeface="+mn-ea"/>
                          <a:ea typeface="+mn-ea"/>
                        </a:rPr>
                        <a:t>スマホの縦画面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177257"/>
                  </a:ext>
                </a:extLst>
              </a:tr>
            </a:tbl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31D17DF-660D-4EA3-9851-134EC4DBBF34}"/>
              </a:ext>
            </a:extLst>
          </p:cNvPr>
          <p:cNvSpPr/>
          <p:nvPr/>
        </p:nvSpPr>
        <p:spPr>
          <a:xfrm>
            <a:off x="1323927" y="636525"/>
            <a:ext cx="59394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4400" b="1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体験版と</a:t>
            </a:r>
            <a:r>
              <a:rPr lang="en-US" altLang="ja-JP" sz="4400" b="1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Web</a:t>
            </a:r>
            <a:r>
              <a:rPr lang="ja-JP" altLang="en-US" sz="4400" b="1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版の違い</a:t>
            </a:r>
            <a:endParaRPr lang="ja-JP" altLang="en-US" sz="4400" b="1" cap="none" spc="0" dirty="0">
              <a:ln w="19050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3C48E37-4C38-4990-8A12-ED019410070B}"/>
              </a:ext>
            </a:extLst>
          </p:cNvPr>
          <p:cNvSpPr/>
          <p:nvPr/>
        </p:nvSpPr>
        <p:spPr>
          <a:xfrm>
            <a:off x="1822164" y="3282291"/>
            <a:ext cx="582883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44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※</a:t>
            </a:r>
            <a:r>
              <a:rPr lang="ja-JP" altLang="en-US" sz="44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どちらも無料です！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38327C9-F575-4D49-BB43-8DE57C5FE9D2}"/>
              </a:ext>
            </a:extLst>
          </p:cNvPr>
          <p:cNvSpPr/>
          <p:nvPr/>
        </p:nvSpPr>
        <p:spPr>
          <a:xfrm>
            <a:off x="2308712" y="4459445"/>
            <a:ext cx="53751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44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Web</a:t>
            </a:r>
            <a:r>
              <a:rPr lang="ja-JP" altLang="en-US" sz="44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完全版はこちら</a:t>
            </a: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478C2205-BF56-4CF3-BEDD-F8F857FD35B6}"/>
              </a:ext>
            </a:extLst>
          </p:cNvPr>
          <p:cNvSpPr/>
          <p:nvPr/>
        </p:nvSpPr>
        <p:spPr>
          <a:xfrm rot="16200000">
            <a:off x="8126293" y="4268742"/>
            <a:ext cx="426220" cy="1092318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43EA7C7-5BA2-4864-8FD5-42C11E4AAA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128" y="3786329"/>
            <a:ext cx="2057143" cy="2057143"/>
          </a:xfrm>
          <a:prstGeom prst="roundRect">
            <a:avLst>
              <a:gd name="adj" fmla="val 11111"/>
            </a:avLst>
          </a:prstGeom>
          <a:ln w="190500" cap="rnd">
            <a:solidFill>
              <a:schemeClr val="bg2">
                <a:lumMod val="40000"/>
                <a:lumOff val="60000"/>
              </a:schemeClr>
            </a:solidFill>
            <a:prstDash val="solid"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DF16E9D-4D9E-49A2-82D6-B009B1A306D9}"/>
              </a:ext>
            </a:extLst>
          </p:cNvPr>
          <p:cNvSpPr/>
          <p:nvPr/>
        </p:nvSpPr>
        <p:spPr>
          <a:xfrm>
            <a:off x="578446" y="5926866"/>
            <a:ext cx="10948575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28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Web</a:t>
            </a:r>
            <a:r>
              <a:rPr lang="ja-JP" altLang="en-US" sz="28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完全版の</a:t>
            </a:r>
            <a:r>
              <a:rPr lang="en-US" altLang="ja-JP" sz="28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URL</a:t>
            </a:r>
            <a:r>
              <a:rPr lang="ja-JP" altLang="en-US" sz="28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：</a:t>
            </a:r>
            <a:r>
              <a:rPr lang="en-US" altLang="ja-JP" sz="2400" b="1" i="0" dirty="0">
                <a:ln w="19050">
                  <a:solidFill>
                    <a:schemeClr val="bg1"/>
                  </a:solidFill>
                </a:ln>
                <a:effectLst/>
                <a:latin typeface="Arial Black" panose="020B0A04020102020204" pitchFamily="34" charset="0"/>
                <a:ea typeface="ＭＳ ゴシック" panose="020B0609070205080204" pitchFamily="49" charset="-128"/>
              </a:rPr>
              <a:t>https://aishikawa-byte.github.io/fishing-game/</a:t>
            </a:r>
            <a:endParaRPr kumimoji="1" lang="ja-JP" altLang="en-US" sz="2400" b="1" dirty="0">
              <a:ln w="19050">
                <a:solidFill>
                  <a:schemeClr val="bg1"/>
                </a:solidFill>
              </a:ln>
              <a:latin typeface="Arial Black" panose="020B0A04020102020204" pitchFamily="34" charset="0"/>
              <a:ea typeface="ＭＳ ゴシック" panose="020B0609070205080204" pitchFamily="49" charset="-128"/>
            </a:endParaRPr>
          </a:p>
          <a:p>
            <a:pPr algn="ctr"/>
            <a:endParaRPr lang="ja-JP" altLang="en-US" sz="2800" b="1" cap="none" spc="0" dirty="0">
              <a:ln w="19050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CC8FB7E-E649-466A-ABCA-74B71DFD83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84708">
            <a:off x="8980878" y="1370712"/>
            <a:ext cx="2903385" cy="137447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AC3D0B2-CC2A-4E24-A33A-5E9A28AEE9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8501">
            <a:off x="7895255" y="5418622"/>
            <a:ext cx="747023" cy="61473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FCCCCE55-EA5F-4A9C-B03B-BD20A1A572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8200" flipH="1">
            <a:off x="563178" y="4247585"/>
            <a:ext cx="1696190" cy="954107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16FE003-6796-4792-A847-F48C7D4EA0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98851">
            <a:off x="478704" y="320060"/>
            <a:ext cx="900109" cy="103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00C4880E-322D-4752-9C41-67B85723F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287250" cy="685800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449F73B-A738-44F8-9A5A-711BBC154044}"/>
              </a:ext>
            </a:extLst>
          </p:cNvPr>
          <p:cNvSpPr/>
          <p:nvPr/>
        </p:nvSpPr>
        <p:spPr>
          <a:xfrm>
            <a:off x="131614" y="125506"/>
            <a:ext cx="11923020" cy="6555259"/>
          </a:xfrm>
          <a:prstGeom prst="roundRect">
            <a:avLst/>
          </a:prstGeom>
          <a:solidFill>
            <a:schemeClr val="tx1">
              <a:alpha val="34000"/>
            </a:schemeClr>
          </a:solidFill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31D17DF-660D-4EA3-9851-134EC4DBBF34}"/>
              </a:ext>
            </a:extLst>
          </p:cNvPr>
          <p:cNvSpPr/>
          <p:nvPr/>
        </p:nvSpPr>
        <p:spPr>
          <a:xfrm>
            <a:off x="439260" y="403012"/>
            <a:ext cx="69557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44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使用技術・制作裏話など</a:t>
            </a:r>
            <a:r>
              <a:rPr lang="en-US" altLang="ja-JP" sz="4400" b="1" cap="none" spc="0" dirty="0">
                <a:ln w="19050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…</a:t>
            </a:r>
            <a:endParaRPr lang="ja-JP" altLang="en-US" sz="4400" b="1" cap="none" spc="0" dirty="0">
              <a:ln w="19050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D202487F-1C7F-4CD3-8B99-755732D75483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527" y="4297882"/>
            <a:ext cx="876019" cy="400466"/>
          </a:xfrm>
          <a:prstGeom prst="rect">
            <a:avLst/>
          </a:prstGeom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92B2E6B-F00D-406A-ABF3-5EAEB80524C8}"/>
              </a:ext>
            </a:extLst>
          </p:cNvPr>
          <p:cNvSpPr/>
          <p:nvPr/>
        </p:nvSpPr>
        <p:spPr>
          <a:xfrm>
            <a:off x="423175" y="1142999"/>
            <a:ext cx="3762653" cy="2534067"/>
          </a:xfrm>
          <a:prstGeom prst="roundRect">
            <a:avLst/>
          </a:prstGeom>
          <a:solidFill>
            <a:schemeClr val="tx1">
              <a:alpha val="34000"/>
            </a:schemeClr>
          </a:solidFill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制作に使用した技術</a:t>
            </a:r>
            <a:endParaRPr lang="en-US" altLang="ja-JP" sz="2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sz="18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・</a:t>
            </a:r>
            <a:r>
              <a:rPr lang="en-US" altLang="ja-JP" sz="18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HTML,CSS,JS</a:t>
            </a:r>
            <a:r>
              <a:rPr lang="ja-JP" altLang="en-US" sz="18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のファイル</a:t>
            </a:r>
            <a:endParaRPr lang="en-US" altLang="ja-JP" sz="1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・</a:t>
            </a:r>
            <a:r>
              <a:rPr lang="en-US" altLang="ja-JP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Gemini AI</a:t>
            </a: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・</a:t>
            </a:r>
            <a:r>
              <a:rPr lang="en-US" altLang="ja-JP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(Visual Studio Code)</a:t>
            </a:r>
          </a:p>
          <a:p>
            <a:endParaRPr lang="en-US" altLang="ja-JP" sz="1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ja-JP" altLang="en-US" sz="3200" b="1" spc="50" dirty="0">
                <a:ln w="0"/>
                <a:solidFill>
                  <a:schemeClr val="bg2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以上！</a:t>
            </a:r>
            <a:endParaRPr lang="en-US" altLang="ja-JP" sz="3200" b="1" spc="50" dirty="0">
              <a:ln w="0"/>
              <a:solidFill>
                <a:schemeClr val="bg2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B085C2F-7C41-4A7C-8622-F314CC28410C}"/>
              </a:ext>
            </a:extLst>
          </p:cNvPr>
          <p:cNvSpPr/>
          <p:nvPr/>
        </p:nvSpPr>
        <p:spPr>
          <a:xfrm>
            <a:off x="423175" y="3913421"/>
            <a:ext cx="3762653" cy="1474370"/>
          </a:xfrm>
          <a:prstGeom prst="roundRect">
            <a:avLst/>
          </a:prstGeom>
          <a:solidFill>
            <a:schemeClr val="tx1">
              <a:alpha val="34000"/>
            </a:schemeClr>
          </a:solidFill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制作期間</a:t>
            </a:r>
            <a:endParaRPr lang="en-US" altLang="ja-JP" sz="2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1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ja-JP" altLang="en-US" sz="3200" b="1" spc="50" dirty="0">
                <a:ln w="0"/>
                <a:solidFill>
                  <a:schemeClr val="bg2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合計３日間！</a:t>
            </a:r>
            <a:endParaRPr lang="en-US" altLang="ja-JP" sz="3200" b="1" spc="50" dirty="0">
              <a:ln w="0"/>
              <a:solidFill>
                <a:schemeClr val="bg2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1C27E0B-6826-4CDE-B6DC-88D0F37FA806}"/>
              </a:ext>
            </a:extLst>
          </p:cNvPr>
          <p:cNvSpPr/>
          <p:nvPr/>
        </p:nvSpPr>
        <p:spPr>
          <a:xfrm>
            <a:off x="4357577" y="1142999"/>
            <a:ext cx="4383011" cy="4244792"/>
          </a:xfrm>
          <a:prstGeom prst="roundRect">
            <a:avLst/>
          </a:prstGeom>
          <a:solidFill>
            <a:schemeClr val="tx1">
              <a:alpha val="34000"/>
            </a:schemeClr>
          </a:solidFill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工夫・頑張ったところ</a:t>
            </a:r>
            <a:endParaRPr lang="en-US" altLang="ja-JP" sz="28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12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・誰でもプレイできるように、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タップ操作のみ、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また、魚の種類や特徴を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学ぶことができるようにしました。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・画像ファイルが</a:t>
            </a:r>
            <a:r>
              <a:rPr lang="en-US" altLang="ja-JP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300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枚以上、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使用されています。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</a:t>
            </a:r>
            <a:r>
              <a:rPr lang="en-US" altLang="ja-JP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Gemini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を使用し、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魚の画像を生成するとき、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一度に３種類ほど生成し、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効率化しました。</a:t>
            </a:r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6E3DCA36-C724-4005-B4CE-5A2A681879A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068" y="84570"/>
            <a:ext cx="1621577" cy="142035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6838246-AF5C-4DAD-879C-81479A9DCC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37124">
            <a:off x="768784" y="5220106"/>
            <a:ext cx="2295525" cy="1371600"/>
          </a:xfrm>
          <a:prstGeom prst="rect">
            <a:avLst/>
          </a:prstGeom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24FEB66C-0D06-46F4-B5D7-368CB3F86A88}"/>
              </a:ext>
            </a:extLst>
          </p:cNvPr>
          <p:cNvSpPr/>
          <p:nvPr/>
        </p:nvSpPr>
        <p:spPr>
          <a:xfrm>
            <a:off x="8912336" y="1142999"/>
            <a:ext cx="3019687" cy="4244792"/>
          </a:xfrm>
          <a:prstGeom prst="roundRect">
            <a:avLst/>
          </a:prstGeom>
          <a:solidFill>
            <a:schemeClr val="tx1">
              <a:alpha val="34000"/>
            </a:schemeClr>
          </a:solidFill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～制作の重要点～</a:t>
            </a:r>
            <a:endParaRPr lang="en-US" altLang="ja-JP" sz="24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n-US" altLang="ja-JP" sz="2000" b="1" spc="50" dirty="0">
              <a:ln w="0"/>
              <a:solidFill>
                <a:schemeClr val="bg2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6C2AE665-1315-48FF-B608-4C577BAE7255}"/>
              </a:ext>
            </a:extLst>
          </p:cNvPr>
          <p:cNvSpPr/>
          <p:nvPr/>
        </p:nvSpPr>
        <p:spPr>
          <a:xfrm>
            <a:off x="9363713" y="1792944"/>
            <a:ext cx="2116932" cy="9054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ＤＦ太丸ゴシック体" panose="02010609010101010101" pitchFamily="1" charset="-128"/>
                <a:ea typeface="ＤＦ太丸ゴシック体" panose="02010609010101010101" pitchFamily="1" charset="-128"/>
              </a:rPr>
              <a:t>自分が満足できるか</a:t>
            </a: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AB931146-F8D9-4CB2-834F-DE3B321DAEE7}"/>
              </a:ext>
            </a:extLst>
          </p:cNvPr>
          <p:cNvSpPr/>
          <p:nvPr/>
        </p:nvSpPr>
        <p:spPr>
          <a:xfrm>
            <a:off x="10165977" y="2542526"/>
            <a:ext cx="1714481" cy="90543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latin typeface="ＤＦ太丸ゴシック体" panose="02010609010101010101" pitchFamily="1" charset="-128"/>
                <a:ea typeface="ＤＦ太丸ゴシック体" panose="02010609010101010101" pitchFamily="1" charset="-128"/>
              </a:rPr>
              <a:t>楽しんで</a:t>
            </a:r>
            <a:endParaRPr kumimoji="1" lang="en-US" altLang="ja-JP" sz="1600" dirty="0">
              <a:latin typeface="ＤＦ太丸ゴシック体" panose="02010609010101010101" pitchFamily="1" charset="-128"/>
              <a:ea typeface="ＤＦ太丸ゴシック体" panose="02010609010101010101" pitchFamily="1" charset="-128"/>
            </a:endParaRPr>
          </a:p>
          <a:p>
            <a:pPr algn="ctr"/>
            <a:r>
              <a:rPr kumimoji="1" lang="ja-JP" altLang="en-US" sz="1600" dirty="0">
                <a:latin typeface="ＤＦ太丸ゴシック体" panose="02010609010101010101" pitchFamily="1" charset="-128"/>
                <a:ea typeface="ＤＦ太丸ゴシック体" panose="02010609010101010101" pitchFamily="1" charset="-128"/>
              </a:rPr>
              <a:t>もらえるか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2C6F36F1-5A09-4A52-A807-9C679C7AE29B}"/>
              </a:ext>
            </a:extLst>
          </p:cNvPr>
          <p:cNvSpPr/>
          <p:nvPr/>
        </p:nvSpPr>
        <p:spPr>
          <a:xfrm>
            <a:off x="8956940" y="2524596"/>
            <a:ext cx="1518805" cy="90543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latin typeface="ＤＦ太丸ゴシック体" panose="02010609010101010101" pitchFamily="1" charset="-128"/>
                <a:ea typeface="ＤＦ太丸ゴシック体" panose="02010609010101010101" pitchFamily="1" charset="-128"/>
              </a:rPr>
              <a:t>簡単に</a:t>
            </a:r>
            <a:endParaRPr kumimoji="1" lang="en-US" altLang="ja-JP" sz="1600" dirty="0">
              <a:latin typeface="ＤＦ太丸ゴシック体" panose="02010609010101010101" pitchFamily="1" charset="-128"/>
              <a:ea typeface="ＤＦ太丸ゴシック体" panose="02010609010101010101" pitchFamily="1" charset="-128"/>
            </a:endParaRPr>
          </a:p>
          <a:p>
            <a:pPr algn="ctr"/>
            <a:r>
              <a:rPr kumimoji="1" lang="ja-JP" altLang="en-US" sz="1600" dirty="0">
                <a:latin typeface="ＤＦ太丸ゴシック体" panose="02010609010101010101" pitchFamily="1" charset="-128"/>
                <a:ea typeface="ＤＦ太丸ゴシック体" panose="02010609010101010101" pitchFamily="1" charset="-128"/>
              </a:rPr>
              <a:t>作れるか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50FBAB3A-E48D-4099-888A-55EBE33B867D}"/>
              </a:ext>
            </a:extLst>
          </p:cNvPr>
          <p:cNvSpPr/>
          <p:nvPr/>
        </p:nvSpPr>
        <p:spPr>
          <a:xfrm>
            <a:off x="9363713" y="3773164"/>
            <a:ext cx="2116932" cy="1049437"/>
          </a:xfrm>
          <a:prstGeom prst="ellipse">
            <a:avLst/>
          </a:prstGeom>
          <a:solidFill>
            <a:srgbClr val="FFFF99"/>
          </a:solidFill>
          <a:ln w="38100">
            <a:solidFill>
              <a:srgbClr val="FFC000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50800" dist="381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accent6">
                    <a:lumMod val="75000"/>
                  </a:schemeClr>
                </a:solidFill>
                <a:latin typeface="ＤＦ太丸ゴシック体" panose="02010609010101010101" pitchFamily="1" charset="-128"/>
                <a:ea typeface="ＤＦ太丸ゴシック体" panose="02010609010101010101" pitchFamily="1" charset="-128"/>
              </a:rPr>
              <a:t>～親切さ～</a:t>
            </a: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FBC08464-55CD-487A-A0F2-862D839D12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1618" flipH="1">
            <a:off x="8344189" y="5519315"/>
            <a:ext cx="1136295" cy="773181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D09F601D-2B58-419A-9B3F-926081F97D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5199">
            <a:off x="9470711" y="5527410"/>
            <a:ext cx="886695" cy="52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4168778-1EC0-4AF9-83C4-4D07BDED0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72682" cy="6849869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A2F780C-EA62-4E88-86B9-634DFCDB51FF}"/>
              </a:ext>
            </a:extLst>
          </p:cNvPr>
          <p:cNvSpPr/>
          <p:nvPr/>
        </p:nvSpPr>
        <p:spPr>
          <a:xfrm>
            <a:off x="131614" y="125506"/>
            <a:ext cx="11923020" cy="6555259"/>
          </a:xfrm>
          <a:prstGeom prst="roundRect">
            <a:avLst/>
          </a:prstGeom>
          <a:noFill/>
          <a:ln w="76200"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0F9EDE4-E843-44CE-907C-98D896778AA4}"/>
              </a:ext>
            </a:extLst>
          </p:cNvPr>
          <p:cNvSpPr/>
          <p:nvPr/>
        </p:nvSpPr>
        <p:spPr>
          <a:xfrm>
            <a:off x="580936" y="864827"/>
            <a:ext cx="4518212" cy="5465390"/>
          </a:xfrm>
          <a:prstGeom prst="roundRect">
            <a:avLst/>
          </a:prstGeom>
          <a:solidFill>
            <a:schemeClr val="bg2">
              <a:lumMod val="50000"/>
              <a:alpha val="80000"/>
            </a:schemeClr>
          </a:solidFill>
          <a:ln w="762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altLang="ja-JP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Android</a:t>
            </a:r>
            <a:r>
              <a:rPr lang="ja-JP" altLang="en-US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（</a:t>
            </a:r>
            <a:r>
              <a:rPr lang="en-US" altLang="ja-JP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Chrome</a:t>
            </a:r>
            <a:r>
              <a:rPr lang="ja-JP" altLang="en-US" sz="2400" b="1" u="sng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）の場合</a:t>
            </a:r>
            <a:endParaRPr lang="en-US" altLang="ja-JP" sz="2400" b="1" u="sng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ja-JP" alt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１．ゲームを開く（</a:t>
            </a:r>
            <a:r>
              <a:rPr lang="en-US" altLang="ja-JP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QR</a:t>
            </a:r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）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ja-JP" alt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２．画面右上にある 「⋮」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　　（</a:t>
            </a:r>
            <a:r>
              <a:rPr lang="en-US" altLang="ja-JP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点リーダー） をタップする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ja-JP" alt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３．メニューから 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　「ホーム画面に追加」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　（または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　「アプリをインストール」）を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　　選択する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ja-JP" alt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４．確認画面が出たら 「追加」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　（または「インストール」）を</a:t>
            </a:r>
            <a:endParaRPr lang="en-US" altLang="ja-JP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ja-JP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　　タップする</a:t>
            </a:r>
          </a:p>
          <a:p>
            <a:endParaRPr kumimoji="1" lang="ja-JP" alt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7BDA622-48BE-4C47-AE32-6F549E8224C3}"/>
              </a:ext>
            </a:extLst>
          </p:cNvPr>
          <p:cNvSpPr/>
          <p:nvPr/>
        </p:nvSpPr>
        <p:spPr>
          <a:xfrm>
            <a:off x="5548470" y="873915"/>
            <a:ext cx="4314880" cy="4477359"/>
          </a:xfrm>
          <a:prstGeom prst="roundRect">
            <a:avLst/>
          </a:prstGeom>
          <a:solidFill>
            <a:schemeClr val="bg2">
              <a:lumMod val="50000"/>
              <a:alpha val="80000"/>
            </a:schemeClr>
          </a:solidFill>
          <a:ln w="762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ja-JP" sz="2400" b="1" u="sng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iPhone / iPad</a:t>
            </a:r>
            <a:r>
              <a:rPr lang="ja-JP" altLang="en-US" sz="2400" b="1" u="sng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の場合</a:t>
            </a:r>
            <a:endParaRPr lang="en-US" altLang="ja-JP" sz="2400" b="1" u="sng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endParaRPr lang="ja-JP" altLang="en-US" sz="2400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１．ゲームを開く（</a:t>
            </a:r>
            <a:r>
              <a:rPr lang="en-US" altLang="ja-JP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QR</a:t>
            </a:r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）</a:t>
            </a:r>
            <a:endParaRPr lang="en-US" altLang="ja-JP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endParaRPr lang="ja-JP" altLang="en-US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２．アドレスバーの右側にある</a:t>
            </a:r>
            <a:endParaRPr lang="en-US" altLang="ja-JP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　　共有ボタンをタップする</a:t>
            </a:r>
            <a:endParaRPr lang="en-US" altLang="ja-JP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endParaRPr lang="ja-JP" altLang="en-US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３．メニューを下にスクロールし、</a:t>
            </a:r>
            <a:endParaRPr lang="en-US" altLang="ja-JP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　「ホーム画面に追加」 を</a:t>
            </a:r>
            <a:endParaRPr lang="en-US" altLang="ja-JP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　　タップする</a:t>
            </a:r>
            <a:endParaRPr lang="en-US" altLang="ja-JP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endParaRPr lang="ja-JP" altLang="en-US" b="1" dirty="0">
              <a:ln/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ja-JP" altLang="en-US" b="1" dirty="0">
                <a:ln/>
                <a:solidFill>
                  <a:schemeClr val="bg2">
                    <a:lumMod val="20000"/>
                    <a:lumOff val="80000"/>
                  </a:schemeClr>
                </a:solidFill>
              </a:rPr>
              <a:t>４．右上の 「追加」 をタップする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43B9FF3-09DB-4E76-B798-A99C43862B4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8296" flipH="1">
            <a:off x="9374532" y="1550213"/>
            <a:ext cx="323919" cy="52295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9CF6ECF-F004-490A-95DC-7E788DA220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8721">
            <a:off x="9599012" y="5196324"/>
            <a:ext cx="1861862" cy="106453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38B28A6-296E-4E15-B7D0-E8830AFD809E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alphaModFix amt="5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4141">
            <a:off x="3493916" y="2856841"/>
            <a:ext cx="1206475" cy="62269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FD7A801E-C4BA-4A79-A562-D6409CC225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011577">
            <a:off x="4864217" y="532508"/>
            <a:ext cx="919186" cy="809372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F54393C-5449-4EBF-930B-F4862A5ABB56}"/>
              </a:ext>
            </a:extLst>
          </p:cNvPr>
          <p:cNvSpPr/>
          <p:nvPr/>
        </p:nvSpPr>
        <p:spPr>
          <a:xfrm>
            <a:off x="580936" y="235395"/>
            <a:ext cx="75713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～アプリとしてインストールする方法～</a:t>
            </a:r>
            <a:endParaRPr lang="ja-JP" alt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624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7D87CAA3-4496-4FCE-90CE-89F4EB4EA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6727266-6BC4-4FD2-B6A3-2B85A16F710B}"/>
              </a:ext>
            </a:extLst>
          </p:cNvPr>
          <p:cNvSpPr/>
          <p:nvPr/>
        </p:nvSpPr>
        <p:spPr>
          <a:xfrm>
            <a:off x="131614" y="125506"/>
            <a:ext cx="11923020" cy="6555259"/>
          </a:xfrm>
          <a:prstGeom prst="roundRect">
            <a:avLst/>
          </a:prstGeom>
          <a:noFill/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6AFB36F-850D-451D-A3D8-86418BF55EB2}"/>
              </a:ext>
            </a:extLst>
          </p:cNvPr>
          <p:cNvSpPr/>
          <p:nvPr/>
        </p:nvSpPr>
        <p:spPr>
          <a:xfrm>
            <a:off x="2474259" y="277906"/>
            <a:ext cx="6723529" cy="6263249"/>
          </a:xfrm>
          <a:prstGeom prst="roundRect">
            <a:avLst/>
          </a:prstGeom>
          <a:solidFill>
            <a:schemeClr val="accent5">
              <a:lumMod val="20000"/>
              <a:lumOff val="80000"/>
              <a:alpha val="73000"/>
            </a:schemeClr>
          </a:solidFill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endParaRPr lang="en-US" altLang="ja-JP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altLang="ja-JP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ja-JP" altLang="en-US" sz="1400" b="1" spc="50" dirty="0">
                <a:ln w="0"/>
                <a:solidFill>
                  <a:schemeClr val="bg2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　</a:t>
            </a:r>
            <a:endParaRPr kumimoji="1" lang="ja-JP" alt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ACE35EA-9C56-4F1D-8F29-44D74756E24F}"/>
              </a:ext>
            </a:extLst>
          </p:cNvPr>
          <p:cNvSpPr/>
          <p:nvPr/>
        </p:nvSpPr>
        <p:spPr>
          <a:xfrm>
            <a:off x="2918763" y="421340"/>
            <a:ext cx="583451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～</a:t>
            </a:r>
            <a:r>
              <a:rPr lang="en-US" altLang="ja-JP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Forms</a:t>
            </a:r>
            <a:r>
              <a:rPr lang="ja-JP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アンケート～</a:t>
            </a:r>
            <a:endParaRPr lang="ja-JP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EF59F03-46D1-46F9-8EDF-B5A656585389}"/>
              </a:ext>
            </a:extLst>
          </p:cNvPr>
          <p:cNvSpPr/>
          <p:nvPr/>
        </p:nvSpPr>
        <p:spPr>
          <a:xfrm>
            <a:off x="3363269" y="1093695"/>
            <a:ext cx="5106874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</a:rPr>
              <a:t>１分で終わる！</a:t>
            </a:r>
            <a:endParaRPr lang="en-US" altLang="ja-JP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r>
              <a:rPr lang="ja-JP" alt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</a:rPr>
              <a:t>アンケート＆感想募集中！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C88F5A1-5517-40EA-AF03-23C0C9115245}"/>
              </a:ext>
            </a:extLst>
          </p:cNvPr>
          <p:cNvSpPr/>
          <p:nvPr/>
        </p:nvSpPr>
        <p:spPr>
          <a:xfrm>
            <a:off x="3192187" y="5913440"/>
            <a:ext cx="528767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ja-JP" altLang="en-US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スマホで読み取ってください♪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19AD181-B9E0-42E8-A05B-0719B9191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7112">
            <a:off x="11230267" y="4380810"/>
            <a:ext cx="325242" cy="63891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DA32B52D-CE73-4541-AFE9-719FF445B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2907" y="4312023"/>
            <a:ext cx="682884" cy="147591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92D7B56-163B-4959-9F0D-A735E9B98F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849" y="2380238"/>
            <a:ext cx="3085714" cy="3085714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7949555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光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251</TotalTime>
  <Words>464</Words>
  <Application>Microsoft Office PowerPoint</Application>
  <PresentationFormat>ワイド画面</PresentationFormat>
  <Paragraphs>119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ＤＦ太丸ゴシック体</vt:lpstr>
      <vt:lpstr>游ゴシック</vt:lpstr>
      <vt:lpstr>Arial Black</vt:lpstr>
      <vt:lpstr>Century Gothic</vt:lpstr>
      <vt:lpstr>Wingdings 3</vt:lpstr>
      <vt:lpstr>スライス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メモスライド</dc:title>
  <dc:creator>石川 諒</dc:creator>
  <cp:lastModifiedBy>石川 諒</cp:lastModifiedBy>
  <cp:revision>47</cp:revision>
  <dcterms:created xsi:type="dcterms:W3CDTF">2026-09-14T23:59:12Z</dcterms:created>
  <dcterms:modified xsi:type="dcterms:W3CDTF">2026-09-24T03:05:09Z</dcterms:modified>
</cp:coreProperties>
</file>